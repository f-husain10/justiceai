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4630400" cy="8229600"/>
  <p:notesSz cx="8229600" cy="14630400"/>
  <p:embeddedFontLst>
    <p:embeddedFont>
      <p:font typeface="Tomorrow" panose="020B0604020202020204" charset="0"/>
      <p:regular r:id="rId14"/>
    </p:embeddedFont>
    <p:embeddedFont>
      <p:font typeface="Tomorrow Semi Bold" panose="020B0604020202020204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53" d="100"/>
          <a:sy n="53" d="100"/>
        </p:scale>
        <p:origin x="748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869598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D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D1D1B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D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D1D1B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D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D1D1B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D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D1D1B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D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D1D1B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D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D1D1B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D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D1D1B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D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D1D1B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D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D1D1B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D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D1D1B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D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D1D1B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0.svg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2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3.svg"/><Relationship Id="rId7" Type="http://schemas.openxmlformats.org/officeDocument/2006/relationships/image" Target="../media/image17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svg"/><Relationship Id="rId5" Type="http://schemas.openxmlformats.org/officeDocument/2006/relationships/image" Target="../media/image15.svg"/><Relationship Id="rId4" Type="http://schemas.openxmlformats.org/officeDocument/2006/relationships/image" Target="../media/image14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282303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EDEDE8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JusticeAI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2331244"/>
            <a:ext cx="7556421" cy="39128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700"/>
              </a:lnSpc>
              <a:buNone/>
            </a:pPr>
            <a:r>
              <a:rPr lang="en-US" sz="6150" dirty="0">
                <a:solidFill>
                  <a:srgbClr val="EDEDE8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AI-Powered Legal Awareness &amp; Assistance Platform</a:t>
            </a:r>
            <a:endParaRPr lang="en-US" sz="6150" dirty="0"/>
          </a:p>
        </p:txBody>
      </p:sp>
      <p:sp>
        <p:nvSpPr>
          <p:cNvPr id="5" name="Text 2"/>
          <p:cNvSpPr/>
          <p:nvPr/>
        </p:nvSpPr>
        <p:spPr>
          <a:xfrm>
            <a:off x="793790" y="6584275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B.Tech Computer Science · Academic Project Presentation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79846" y="1873687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en-US" sz="4450" dirty="0">
                <a:solidFill>
                  <a:srgbClr val="EDEDE8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Meet Our Team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036094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Three dedicated individuals collaborating to bring JusticeAI to life.</a:t>
            </a:r>
            <a:endParaRPr lang="en-US" sz="17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3790" y="3654147"/>
            <a:ext cx="566976" cy="56697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93790" y="450461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9C9C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FARHAAN HUSAIN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93790" y="4995029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ROLL NO. : 236047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793790" y="5494020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BTECH (CST)</a:t>
            </a:r>
            <a:endParaRPr lang="en-US" sz="17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5893" y="3654147"/>
            <a:ext cx="566976" cy="56697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235893" y="450461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9C9C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MD EBAD 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5235893" y="4995029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ROLL NO. : 233030</a:t>
            </a:r>
            <a:endParaRPr lang="en-US" sz="1750" dirty="0"/>
          </a:p>
        </p:txBody>
      </p:sp>
      <p:sp>
        <p:nvSpPr>
          <p:cNvPr id="11" name="Text 7"/>
          <p:cNvSpPr/>
          <p:nvPr/>
        </p:nvSpPr>
        <p:spPr>
          <a:xfrm>
            <a:off x="5235893" y="5494020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BTECH (CSE)</a:t>
            </a:r>
            <a:endParaRPr lang="en-US" sz="17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677995" y="3654147"/>
            <a:ext cx="566976" cy="56697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677995" y="450461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9C9C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RAHBAR AALAM</a:t>
            </a:r>
            <a:endParaRPr lang="en-US" sz="2200" dirty="0"/>
          </a:p>
        </p:txBody>
      </p:sp>
      <p:sp>
        <p:nvSpPr>
          <p:cNvPr id="14" name="Text 9"/>
          <p:cNvSpPr/>
          <p:nvPr/>
        </p:nvSpPr>
        <p:spPr>
          <a:xfrm>
            <a:off x="9677995" y="4995029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ROLL NO. : 236010</a:t>
            </a:r>
            <a:endParaRPr lang="en-US" sz="1750" dirty="0"/>
          </a:p>
        </p:txBody>
      </p:sp>
      <p:sp>
        <p:nvSpPr>
          <p:cNvPr id="15" name="Text 10"/>
          <p:cNvSpPr/>
          <p:nvPr/>
        </p:nvSpPr>
        <p:spPr>
          <a:xfrm>
            <a:off x="9677995" y="5494020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BTECH (CST)</a:t>
            </a:r>
            <a:endParaRPr lang="en-US" sz="1750" dirty="0"/>
          </a:p>
        </p:txBody>
      </p:sp>
      <p:sp>
        <p:nvSpPr>
          <p:cNvPr id="16" name="Text 11"/>
          <p:cNvSpPr/>
          <p:nvPr/>
        </p:nvSpPr>
        <p:spPr>
          <a:xfrm>
            <a:off x="9677995" y="5993011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6642" y="633413"/>
            <a:ext cx="7630716" cy="13513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50" dirty="0">
                <a:solidFill>
                  <a:srgbClr val="EDEDE8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The Problem: Legal Knowledge Gap</a:t>
            </a:r>
            <a:endParaRPr lang="en-US" sz="4250" dirty="0"/>
          </a:p>
        </p:txBody>
      </p:sp>
      <p:sp>
        <p:nvSpPr>
          <p:cNvPr id="4" name="Shape 1"/>
          <p:cNvSpPr/>
          <p:nvPr/>
        </p:nvSpPr>
        <p:spPr>
          <a:xfrm>
            <a:off x="756642" y="2293858"/>
            <a:ext cx="7630716" cy="1630085"/>
          </a:xfrm>
          <a:prstGeom prst="roundRect">
            <a:avLst>
              <a:gd name="adj" fmla="val 8975"/>
            </a:avLst>
          </a:prstGeom>
          <a:solidFill>
            <a:srgbClr val="1D1D1B"/>
          </a:solidFill>
          <a:ln w="30480">
            <a:solidFill>
              <a:srgbClr val="555553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26162" y="2293858"/>
            <a:ext cx="121920" cy="1630085"/>
          </a:xfrm>
          <a:prstGeom prst="roundRect">
            <a:avLst>
              <a:gd name="adj" fmla="val 26599"/>
            </a:avLst>
          </a:prstGeom>
          <a:solidFill>
            <a:srgbClr val="E1E1DF"/>
          </a:solidFill>
          <a:ln/>
        </p:spPr>
      </p:sp>
      <p:sp>
        <p:nvSpPr>
          <p:cNvPr id="6" name="Text 3"/>
          <p:cNvSpPr/>
          <p:nvPr/>
        </p:nvSpPr>
        <p:spPr>
          <a:xfrm>
            <a:off x="1094661" y="2540437"/>
            <a:ext cx="3381256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C9C9C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Lack of Legal Awareness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1094661" y="3001804"/>
            <a:ext cx="7046119" cy="675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Most citizens are unaware of their fundamental rights, legal procedures, and remedies available under Indian law.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756642" y="4129921"/>
            <a:ext cx="7630716" cy="1630085"/>
          </a:xfrm>
          <a:prstGeom prst="roundRect">
            <a:avLst>
              <a:gd name="adj" fmla="val 8975"/>
            </a:avLst>
          </a:prstGeom>
          <a:solidFill>
            <a:srgbClr val="1D1D1B"/>
          </a:solidFill>
          <a:ln w="30480">
            <a:solidFill>
              <a:srgbClr val="555553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26162" y="4129921"/>
            <a:ext cx="121920" cy="1630085"/>
          </a:xfrm>
          <a:prstGeom prst="roundRect">
            <a:avLst>
              <a:gd name="adj" fmla="val 26599"/>
            </a:avLst>
          </a:prstGeom>
          <a:solidFill>
            <a:srgbClr val="E1E1DF"/>
          </a:solidFill>
          <a:ln/>
        </p:spPr>
      </p:sp>
      <p:sp>
        <p:nvSpPr>
          <p:cNvPr id="10" name="Text 7"/>
          <p:cNvSpPr/>
          <p:nvPr/>
        </p:nvSpPr>
        <p:spPr>
          <a:xfrm>
            <a:off x="1094661" y="4376499"/>
            <a:ext cx="3807262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C9C9C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Complex Legal Terminology</a:t>
            </a:r>
            <a:endParaRPr lang="en-US" sz="2100" dirty="0"/>
          </a:p>
        </p:txBody>
      </p:sp>
      <p:sp>
        <p:nvSpPr>
          <p:cNvPr id="11" name="Text 8"/>
          <p:cNvSpPr/>
          <p:nvPr/>
        </p:nvSpPr>
        <p:spPr>
          <a:xfrm>
            <a:off x="1094661" y="4837867"/>
            <a:ext cx="7046119" cy="675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Legal language is dense, technical, and inaccessible to non-lawyers — creating a barrier to justice.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756642" y="5965984"/>
            <a:ext cx="7630716" cy="1630085"/>
          </a:xfrm>
          <a:prstGeom prst="roundRect">
            <a:avLst>
              <a:gd name="adj" fmla="val 8975"/>
            </a:avLst>
          </a:prstGeom>
          <a:solidFill>
            <a:srgbClr val="1D1D1B"/>
          </a:solidFill>
          <a:ln w="30480">
            <a:solidFill>
              <a:srgbClr val="555553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26162" y="5965984"/>
            <a:ext cx="121920" cy="1630085"/>
          </a:xfrm>
          <a:prstGeom prst="roundRect">
            <a:avLst>
              <a:gd name="adj" fmla="val 26599"/>
            </a:avLst>
          </a:prstGeom>
          <a:solidFill>
            <a:srgbClr val="E1E1DF"/>
          </a:solidFill>
          <a:ln/>
        </p:spPr>
      </p:sp>
      <p:sp>
        <p:nvSpPr>
          <p:cNvPr id="14" name="Text 11"/>
          <p:cNvSpPr/>
          <p:nvPr/>
        </p:nvSpPr>
        <p:spPr>
          <a:xfrm>
            <a:off x="1094661" y="6212562"/>
            <a:ext cx="3292078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C9C9C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No Accessible Guidance</a:t>
            </a:r>
            <a:endParaRPr lang="en-US" sz="2100" dirty="0"/>
          </a:p>
        </p:txBody>
      </p:sp>
      <p:sp>
        <p:nvSpPr>
          <p:cNvPr id="15" name="Text 12"/>
          <p:cNvSpPr/>
          <p:nvPr/>
        </p:nvSpPr>
        <p:spPr>
          <a:xfrm>
            <a:off x="1094661" y="6673929"/>
            <a:ext cx="7046119" cy="675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There is no free, instant, and structured digital system to guide citizens through everyday legal queries.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43082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EDEDE8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Project Objectives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005489"/>
            <a:ext cx="6407944" cy="2577108"/>
          </a:xfrm>
          <a:prstGeom prst="roundRect">
            <a:avLst>
              <a:gd name="adj" fmla="val 1320"/>
            </a:avLst>
          </a:prstGeom>
          <a:solidFill>
            <a:srgbClr val="3C3C3A"/>
          </a:solidFill>
          <a:ln/>
        </p:spPr>
      </p:sp>
      <p:sp>
        <p:nvSpPr>
          <p:cNvPr id="4" name="Shape 2"/>
          <p:cNvSpPr/>
          <p:nvPr/>
        </p:nvSpPr>
        <p:spPr>
          <a:xfrm>
            <a:off x="1020604" y="2232303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E1E1DF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07770" y="2419350"/>
            <a:ext cx="306110" cy="3061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0604" y="3139559"/>
            <a:ext cx="373737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9C9C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Simplify Legal Knowledge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20604" y="3629978"/>
            <a:ext cx="59543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Break down complex legal concepts into plain, easy-to-understand language for every citizen.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7428548" y="2005489"/>
            <a:ext cx="6408063" cy="2577108"/>
          </a:xfrm>
          <a:prstGeom prst="roundRect">
            <a:avLst>
              <a:gd name="adj" fmla="val 1320"/>
            </a:avLst>
          </a:prstGeom>
          <a:solidFill>
            <a:srgbClr val="3C3C3A"/>
          </a:solidFill>
          <a:ln/>
        </p:spPr>
      </p:sp>
      <p:sp>
        <p:nvSpPr>
          <p:cNvPr id="9" name="Shape 6"/>
          <p:cNvSpPr/>
          <p:nvPr/>
        </p:nvSpPr>
        <p:spPr>
          <a:xfrm>
            <a:off x="7655362" y="2232303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E1E1DF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42528" y="2419350"/>
            <a:ext cx="306110" cy="30611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655362" y="3139559"/>
            <a:ext cx="386262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9C9C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Provide Instant Assistance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7655362" y="3629978"/>
            <a:ext cx="595443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Offer real-time, chatbot-driven legal guidance accessible 24/7 without any consultation fees.</a:t>
            </a:r>
            <a:endParaRPr lang="en-US" sz="1750" dirty="0"/>
          </a:p>
        </p:txBody>
      </p:sp>
      <p:sp>
        <p:nvSpPr>
          <p:cNvPr id="13" name="Shape 9"/>
          <p:cNvSpPr/>
          <p:nvPr/>
        </p:nvSpPr>
        <p:spPr>
          <a:xfrm>
            <a:off x="793790" y="4809411"/>
            <a:ext cx="6407944" cy="2577108"/>
          </a:xfrm>
          <a:prstGeom prst="roundRect">
            <a:avLst>
              <a:gd name="adj" fmla="val 1320"/>
            </a:avLst>
          </a:prstGeom>
          <a:solidFill>
            <a:srgbClr val="3C3C3A"/>
          </a:solidFill>
          <a:ln/>
        </p:spPr>
      </p:sp>
      <p:sp>
        <p:nvSpPr>
          <p:cNvPr id="14" name="Shape 10"/>
          <p:cNvSpPr/>
          <p:nvPr/>
        </p:nvSpPr>
        <p:spPr>
          <a:xfrm>
            <a:off x="1020604" y="5036225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E1E1DF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07770" y="5223272"/>
            <a:ext cx="306110" cy="30611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020604" y="5943481"/>
            <a:ext cx="390941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9C9C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Promote Rights Awareness</a:t>
            </a:r>
            <a:endParaRPr lang="en-US" sz="2200" dirty="0"/>
          </a:p>
        </p:txBody>
      </p:sp>
      <p:sp>
        <p:nvSpPr>
          <p:cNvPr id="17" name="Text 12"/>
          <p:cNvSpPr/>
          <p:nvPr/>
        </p:nvSpPr>
        <p:spPr>
          <a:xfrm>
            <a:off x="1020604" y="6433899"/>
            <a:ext cx="59543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Educate users on Fundamental Rights, consumer laws, traffic regulations, and civic duties.</a:t>
            </a:r>
            <a:endParaRPr lang="en-US" sz="1750" dirty="0"/>
          </a:p>
        </p:txBody>
      </p:sp>
      <p:sp>
        <p:nvSpPr>
          <p:cNvPr id="18" name="Shape 13"/>
          <p:cNvSpPr/>
          <p:nvPr/>
        </p:nvSpPr>
        <p:spPr>
          <a:xfrm>
            <a:off x="7428548" y="4809411"/>
            <a:ext cx="6408063" cy="2577108"/>
          </a:xfrm>
          <a:prstGeom prst="roundRect">
            <a:avLst>
              <a:gd name="adj" fmla="val 1320"/>
            </a:avLst>
          </a:prstGeom>
          <a:solidFill>
            <a:srgbClr val="3C3C3A"/>
          </a:solidFill>
          <a:ln/>
        </p:spPr>
      </p:sp>
      <p:sp>
        <p:nvSpPr>
          <p:cNvPr id="19" name="Shape 14"/>
          <p:cNvSpPr/>
          <p:nvPr/>
        </p:nvSpPr>
        <p:spPr>
          <a:xfrm>
            <a:off x="7655362" y="5036225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E1E1DF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842528" y="5223272"/>
            <a:ext cx="306110" cy="30611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655362" y="5943481"/>
            <a:ext cx="292012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9C9C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Ensure Accessibility</a:t>
            </a:r>
            <a:endParaRPr lang="en-US" sz="2200" dirty="0"/>
          </a:p>
        </p:txBody>
      </p:sp>
      <p:sp>
        <p:nvSpPr>
          <p:cNvPr id="22" name="Text 16"/>
          <p:cNvSpPr/>
          <p:nvPr/>
        </p:nvSpPr>
        <p:spPr>
          <a:xfrm>
            <a:off x="7655362" y="6433899"/>
            <a:ext cx="595443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Build a fully responsive, mobile-friendly platform usable across all devices and network conditions.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2351" y="556617"/>
            <a:ext cx="9230678" cy="5980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750" dirty="0">
                <a:solidFill>
                  <a:srgbClr val="EDEDE8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Proposed Solution: JusticeAI Platform</a:t>
            </a:r>
            <a:endParaRPr lang="en-US" sz="3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351" y="1578412"/>
            <a:ext cx="8420100" cy="477131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7034" y="3399711"/>
            <a:ext cx="4318397" cy="1128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JusticeAI is a </a:t>
            </a:r>
            <a:r>
              <a:rPr lang="en-US" sz="1500" b="1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web-based legal awareness and assistance platform</a:t>
            </a:r>
            <a:r>
              <a:rPr lang="en-US" sz="15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that bridges the gap between citizens and legal knowledge through three integrated pillars:</a:t>
            </a:r>
            <a:endParaRPr lang="en-US" sz="15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4027" y="6718697"/>
            <a:ext cx="287060" cy="28706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334214" y="6712863"/>
            <a:ext cx="2392323" cy="298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C9C9C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AI Chatbot</a:t>
            </a:r>
            <a:endParaRPr lang="en-US" sz="1850" dirty="0"/>
          </a:p>
        </p:txBody>
      </p:sp>
      <p:sp>
        <p:nvSpPr>
          <p:cNvPr id="7" name="Text 3"/>
          <p:cNvSpPr/>
          <p:nvPr/>
        </p:nvSpPr>
        <p:spPr>
          <a:xfrm>
            <a:off x="1334214" y="7108627"/>
            <a:ext cx="3645456" cy="564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Rule-based (current) → NLP-powered (future) conversational legal guidance</a:t>
            </a:r>
            <a:endParaRPr lang="en-US" sz="15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53157" y="6718697"/>
            <a:ext cx="287060" cy="28706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803344" y="6712863"/>
            <a:ext cx="2621756" cy="298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C9C9C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Law Learning System</a:t>
            </a:r>
            <a:endParaRPr lang="en-US" sz="1850" dirty="0"/>
          </a:p>
        </p:txBody>
      </p:sp>
      <p:sp>
        <p:nvSpPr>
          <p:cNvPr id="10" name="Text 5"/>
          <p:cNvSpPr/>
          <p:nvPr/>
        </p:nvSpPr>
        <p:spPr>
          <a:xfrm>
            <a:off x="5803344" y="7108627"/>
            <a:ext cx="3645456" cy="564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Structured modules on traffic laws, FIR filing, RTI, and consumer rights</a:t>
            </a:r>
            <a:endParaRPr lang="en-US" sz="15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22287" y="6718697"/>
            <a:ext cx="287060" cy="28706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0272474" y="6712863"/>
            <a:ext cx="2392323" cy="298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C9C9C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Legal Courses</a:t>
            </a:r>
            <a:endParaRPr lang="en-US" sz="1850" dirty="0"/>
          </a:p>
        </p:txBody>
      </p:sp>
      <p:sp>
        <p:nvSpPr>
          <p:cNvPr id="13" name="Text 7"/>
          <p:cNvSpPr/>
          <p:nvPr/>
        </p:nvSpPr>
        <p:spPr>
          <a:xfrm>
            <a:off x="10272474" y="7108627"/>
            <a:ext cx="3645456" cy="564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Step-by-step courses on Fundamental Rights, Land Law, and more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758" y="593884"/>
            <a:ext cx="5227558" cy="6534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4100" dirty="0">
                <a:solidFill>
                  <a:srgbClr val="EDEDE8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Key Features</a:t>
            </a:r>
            <a:endParaRPr lang="en-US" sz="41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1758" y="1632823"/>
            <a:ext cx="418148" cy="41814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758" y="2291834"/>
            <a:ext cx="2613779" cy="326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C9C9C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Chatbot Assistance</a:t>
            </a:r>
            <a:endParaRPr lang="en-US" sz="2050" dirty="0"/>
          </a:p>
        </p:txBody>
      </p:sp>
      <p:sp>
        <p:nvSpPr>
          <p:cNvPr id="5" name="Text 2"/>
          <p:cNvSpPr/>
          <p:nvPr/>
        </p:nvSpPr>
        <p:spPr>
          <a:xfrm>
            <a:off x="731758" y="2734032"/>
            <a:ext cx="6462951" cy="6426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Instant legal Q&amp;A with intent classification and contextual responses.</a:t>
            </a:r>
            <a:endParaRPr lang="en-US" sz="16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35572" y="1632823"/>
            <a:ext cx="418148" cy="41814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435572" y="2291834"/>
            <a:ext cx="2865953" cy="326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C9C9C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Law Learning System</a:t>
            </a:r>
            <a:endParaRPr lang="en-US" sz="2050" dirty="0"/>
          </a:p>
        </p:txBody>
      </p:sp>
      <p:sp>
        <p:nvSpPr>
          <p:cNvPr id="8" name="Text 4"/>
          <p:cNvSpPr/>
          <p:nvPr/>
        </p:nvSpPr>
        <p:spPr>
          <a:xfrm>
            <a:off x="7435572" y="2734032"/>
            <a:ext cx="6463070" cy="6426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Interactive modules on FIR, RTI, traffic challans, and consumer rights.</a:t>
            </a:r>
            <a:endParaRPr lang="en-US" sz="16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31758" y="3762256"/>
            <a:ext cx="418148" cy="418147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31758" y="4421267"/>
            <a:ext cx="2613779" cy="326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C9C9C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Legal Courses</a:t>
            </a:r>
            <a:endParaRPr lang="en-US" sz="2050" dirty="0"/>
          </a:p>
        </p:txBody>
      </p:sp>
      <p:sp>
        <p:nvSpPr>
          <p:cNvPr id="11" name="Text 6"/>
          <p:cNvSpPr/>
          <p:nvPr/>
        </p:nvSpPr>
        <p:spPr>
          <a:xfrm>
            <a:off x="731758" y="4863465"/>
            <a:ext cx="6462951" cy="6426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Structured courses on Fundamental Rights, Traffic Law, and Land Law.</a:t>
            </a:r>
            <a:endParaRPr lang="en-US" sz="16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435572" y="3762256"/>
            <a:ext cx="418148" cy="418147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435572" y="4421267"/>
            <a:ext cx="2613779" cy="326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C9C9C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Search &amp; Filter</a:t>
            </a:r>
            <a:endParaRPr lang="en-US" sz="2050" dirty="0"/>
          </a:p>
        </p:txBody>
      </p:sp>
      <p:sp>
        <p:nvSpPr>
          <p:cNvPr id="14" name="Text 8"/>
          <p:cNvSpPr/>
          <p:nvPr/>
        </p:nvSpPr>
        <p:spPr>
          <a:xfrm>
            <a:off x="7435572" y="4863465"/>
            <a:ext cx="6463070" cy="321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Quickly locate relevant laws, articles, and guidance by category.</a:t>
            </a:r>
            <a:endParaRPr lang="en-US" sz="16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31758" y="5891689"/>
            <a:ext cx="418148" cy="418147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731758" y="6550700"/>
            <a:ext cx="2613779" cy="326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C9C9C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Responsive UI</a:t>
            </a:r>
            <a:endParaRPr lang="en-US" sz="2050" dirty="0"/>
          </a:p>
        </p:txBody>
      </p:sp>
      <p:sp>
        <p:nvSpPr>
          <p:cNvPr id="17" name="Text 10"/>
          <p:cNvSpPr/>
          <p:nvPr/>
        </p:nvSpPr>
        <p:spPr>
          <a:xfrm>
            <a:off x="731758" y="6992898"/>
            <a:ext cx="6462951" cy="6426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Bootstrap-powered, fully mobile-friendly interface for all screen sizes.</a:t>
            </a:r>
            <a:endParaRPr lang="en-US" sz="160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435572" y="5891689"/>
            <a:ext cx="418148" cy="418147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7435572" y="6550700"/>
            <a:ext cx="2613779" cy="326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C9C9C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Traffic Challan Help</a:t>
            </a:r>
            <a:endParaRPr lang="en-US" sz="2050" dirty="0"/>
          </a:p>
        </p:txBody>
      </p:sp>
      <p:sp>
        <p:nvSpPr>
          <p:cNvPr id="20" name="Text 12"/>
          <p:cNvSpPr/>
          <p:nvPr/>
        </p:nvSpPr>
        <p:spPr>
          <a:xfrm>
            <a:off x="7435572" y="6992898"/>
            <a:ext cx="6463070" cy="6426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Guidance on challenging wrongful traffic fines and understanding violations.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9183" y="554831"/>
            <a:ext cx="5014198" cy="564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550" dirty="0">
                <a:solidFill>
                  <a:srgbClr val="EDEDE8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Legal Courses Module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1079183" y="2713315"/>
            <a:ext cx="3467933" cy="282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EDEDE8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Structured Learning Approach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1079183" y="3139678"/>
            <a:ext cx="6015395" cy="7793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Each course follows a </a:t>
            </a:r>
            <a:r>
              <a:rPr lang="en-US" sz="1400" b="1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step-by-step curriculum</a:t>
            </a:r>
            <a:r>
              <a:rPr lang="en-US" sz="14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— from basic concepts to practical application — making legal education accessible to non-lawyers.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79183" y="4048601"/>
            <a:ext cx="6015395" cy="1139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400" b="1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Fundamental Rights</a:t>
            </a:r>
            <a:r>
              <a:rPr lang="en-US" sz="14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— Articles 12–35, enforcement mechanisms</a:t>
            </a:r>
            <a:endParaRPr lang="en-US" sz="1400" dirty="0"/>
          </a:p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400" b="1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Traffic Law</a:t>
            </a:r>
            <a:r>
              <a:rPr lang="en-US" sz="14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— MV Act provisions, challan disputes, license rules</a:t>
            </a:r>
            <a:endParaRPr lang="en-US" sz="1400" dirty="0"/>
          </a:p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400" b="1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Land Law</a:t>
            </a:r>
            <a:r>
              <a:rPr lang="en-US" sz="14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— Property rights, registration, dispute resolution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79183" y="5350431"/>
            <a:ext cx="6015395" cy="928568"/>
          </a:xfrm>
          <a:prstGeom prst="roundRect">
            <a:avLst>
              <a:gd name="adj" fmla="val 2920"/>
            </a:avLst>
          </a:prstGeom>
          <a:solidFill>
            <a:srgbClr val="022349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9919" y="5616178"/>
            <a:ext cx="225862" cy="18073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66518" y="5539502"/>
            <a:ext cx="5247323" cy="5195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Courses include quizzes, summaries, and real-world scenario examples for better retention.</a:t>
            </a:r>
            <a:endParaRPr lang="en-US" sz="14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3205" y="1497449"/>
            <a:ext cx="6015395" cy="6015395"/>
          </a:xfrm>
          <a:prstGeom prst="rect">
            <a:avLst/>
          </a:prstGeom>
        </p:spPr>
      </p:pic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43205" y="1497449"/>
            <a:ext cx="6015395" cy="601539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1407" y="645200"/>
            <a:ext cx="5582007" cy="697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50"/>
              </a:lnSpc>
              <a:buNone/>
            </a:pPr>
            <a:r>
              <a:rPr lang="en-US" sz="4350" dirty="0">
                <a:solidFill>
                  <a:srgbClr val="EDEDE8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Technology Stack</a:t>
            </a:r>
            <a:endParaRPr lang="en-US" sz="4350" dirty="0"/>
          </a:p>
        </p:txBody>
      </p:sp>
      <p:sp>
        <p:nvSpPr>
          <p:cNvPr id="3" name="Shape 1"/>
          <p:cNvSpPr/>
          <p:nvPr/>
        </p:nvSpPr>
        <p:spPr>
          <a:xfrm>
            <a:off x="781407" y="1919764"/>
            <a:ext cx="3020854" cy="2950369"/>
          </a:xfrm>
          <a:prstGeom prst="roundRect">
            <a:avLst>
              <a:gd name="adj" fmla="val 1135"/>
            </a:avLst>
          </a:prstGeom>
          <a:solidFill>
            <a:srgbClr val="3C3C3A"/>
          </a:solidFill>
          <a:ln/>
        </p:spPr>
      </p:sp>
      <p:sp>
        <p:nvSpPr>
          <p:cNvPr id="4" name="Text 2"/>
          <p:cNvSpPr/>
          <p:nvPr/>
        </p:nvSpPr>
        <p:spPr>
          <a:xfrm>
            <a:off x="1004649" y="2143006"/>
            <a:ext cx="2574369" cy="7129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00000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✅</a:t>
            </a:r>
            <a:r>
              <a:rPr lang="en-US" sz="2150" dirty="0">
                <a:solidFill>
                  <a:srgbClr val="C9C9C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 Frontend — Implemented</a:t>
            </a:r>
            <a:endParaRPr lang="en-US" sz="2150" dirty="0"/>
          </a:p>
        </p:txBody>
      </p:sp>
      <p:sp>
        <p:nvSpPr>
          <p:cNvPr id="5" name="Text 3"/>
          <p:cNvSpPr/>
          <p:nvPr/>
        </p:nvSpPr>
        <p:spPr>
          <a:xfrm>
            <a:off x="1004649" y="3075742"/>
            <a:ext cx="2574369" cy="15711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17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HTML5 &amp; CSS3</a:t>
            </a:r>
            <a:endParaRPr lang="en-US" sz="1750" dirty="0"/>
          </a:p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17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JavaScript ES6</a:t>
            </a:r>
            <a:endParaRPr lang="en-US" sz="1750" dirty="0"/>
          </a:p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17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Bootstrap (Responsive)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4022050" y="1919764"/>
            <a:ext cx="3020854" cy="2950369"/>
          </a:xfrm>
          <a:prstGeom prst="roundRect">
            <a:avLst>
              <a:gd name="adj" fmla="val 1135"/>
            </a:avLst>
          </a:prstGeom>
          <a:solidFill>
            <a:srgbClr val="3C3C3A"/>
          </a:solidFill>
          <a:ln/>
        </p:spPr>
      </p:sp>
      <p:sp>
        <p:nvSpPr>
          <p:cNvPr id="7" name="Text 5"/>
          <p:cNvSpPr/>
          <p:nvPr/>
        </p:nvSpPr>
        <p:spPr>
          <a:xfrm>
            <a:off x="4245293" y="2143006"/>
            <a:ext cx="2574369" cy="7129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00000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🔲</a:t>
            </a:r>
            <a:r>
              <a:rPr lang="en-US" sz="2150" dirty="0">
                <a:solidFill>
                  <a:srgbClr val="C9C9C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 Backend — Planned</a:t>
            </a:r>
            <a:endParaRPr lang="en-US" sz="2150" dirty="0"/>
          </a:p>
        </p:txBody>
      </p:sp>
      <p:sp>
        <p:nvSpPr>
          <p:cNvPr id="8" name="Text 6"/>
          <p:cNvSpPr/>
          <p:nvPr/>
        </p:nvSpPr>
        <p:spPr>
          <a:xfrm>
            <a:off x="4245293" y="3075742"/>
            <a:ext cx="2574369" cy="15711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17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Node.js &amp; Express.js</a:t>
            </a:r>
            <a:endParaRPr lang="en-US" sz="1750" dirty="0"/>
          </a:p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17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MongoDB (Database)</a:t>
            </a:r>
            <a:endParaRPr lang="en-US" sz="1750" dirty="0"/>
          </a:p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17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REST APIs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781407" y="5089922"/>
            <a:ext cx="6261497" cy="2247186"/>
          </a:xfrm>
          <a:prstGeom prst="roundRect">
            <a:avLst>
              <a:gd name="adj" fmla="val 1490"/>
            </a:avLst>
          </a:prstGeom>
          <a:solidFill>
            <a:srgbClr val="3C3C3A"/>
          </a:solidFill>
          <a:ln/>
        </p:spPr>
      </p:sp>
      <p:sp>
        <p:nvSpPr>
          <p:cNvPr id="10" name="Text 8"/>
          <p:cNvSpPr/>
          <p:nvPr/>
        </p:nvSpPr>
        <p:spPr>
          <a:xfrm>
            <a:off x="1004649" y="5313164"/>
            <a:ext cx="2977872" cy="3640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00000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🤖</a:t>
            </a:r>
            <a:r>
              <a:rPr lang="en-US" sz="2150" dirty="0">
                <a:solidFill>
                  <a:srgbClr val="C9C9C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 AI — Future Scope</a:t>
            </a:r>
            <a:endParaRPr lang="en-US" sz="2150" dirty="0"/>
          </a:p>
        </p:txBody>
      </p:sp>
      <p:sp>
        <p:nvSpPr>
          <p:cNvPr id="11" name="Text 9"/>
          <p:cNvSpPr/>
          <p:nvPr/>
        </p:nvSpPr>
        <p:spPr>
          <a:xfrm>
            <a:off x="1004649" y="5897047"/>
            <a:ext cx="5815013" cy="12168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17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OpenAI / Gemini API</a:t>
            </a:r>
            <a:endParaRPr lang="en-US" sz="1750" dirty="0"/>
          </a:p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17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NLP Intent Recognition</a:t>
            </a:r>
            <a:endParaRPr lang="en-US" sz="1750" dirty="0"/>
          </a:p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17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Smart Recommendations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7595116" y="1892379"/>
            <a:ext cx="3400901" cy="348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EDEDE8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Architecture Philosophy</a:t>
            </a:r>
            <a:endParaRPr lang="en-US" sz="2150" dirty="0"/>
          </a:p>
        </p:txBody>
      </p:sp>
      <p:sp>
        <p:nvSpPr>
          <p:cNvPr id="13" name="Text 11"/>
          <p:cNvSpPr/>
          <p:nvPr/>
        </p:nvSpPr>
        <p:spPr>
          <a:xfrm>
            <a:off x="7595116" y="2461022"/>
            <a:ext cx="6261497" cy="1771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JusticeAI is built with a </a:t>
            </a:r>
            <a:r>
              <a:rPr lang="en-US" sz="1750" b="1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scalable, layered architecture</a:t>
            </a:r>
            <a:r>
              <a:rPr lang="en-US" sz="17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. The current frontend-only implementation ensures a polished user experience, while the planned backend and AI layers will enable persistent data, user authentication, and intelligent query processing.</a:t>
            </a:r>
            <a:endParaRPr lang="en-US" sz="1750" dirty="0"/>
          </a:p>
        </p:txBody>
      </p:sp>
      <p:sp>
        <p:nvSpPr>
          <p:cNvPr id="14" name="Shape 12"/>
          <p:cNvSpPr/>
          <p:nvPr/>
        </p:nvSpPr>
        <p:spPr>
          <a:xfrm>
            <a:off x="7595116" y="4479846"/>
            <a:ext cx="6261497" cy="1647825"/>
          </a:xfrm>
          <a:prstGeom prst="roundRect">
            <a:avLst>
              <a:gd name="adj" fmla="val 2033"/>
            </a:avLst>
          </a:prstGeom>
          <a:solidFill>
            <a:srgbClr val="272725"/>
          </a:solidFill>
          <a:ln/>
        </p:spPr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358" y="4822508"/>
            <a:ext cx="279083" cy="223242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8320683" y="4755356"/>
            <a:ext cx="5312688" cy="1062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The modular design allows each layer to be upgraded independently without disrupting existing functionality.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668786" y="379809"/>
            <a:ext cx="5550098" cy="4208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EDEDE8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System Architecture &amp; Workflow</a:t>
            </a:r>
            <a:endParaRPr lang="en-US" sz="26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7124" y="960596"/>
            <a:ext cx="9216152" cy="397418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327305" y="4181129"/>
            <a:ext cx="2090818" cy="261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Select Module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3327305" y="3261169"/>
            <a:ext cx="2090818" cy="261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Classify Query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327305" y="2350501"/>
            <a:ext cx="2090818" cy="261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Process Input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327305" y="1430541"/>
            <a:ext cx="2090818" cy="261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Enter Query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2668786" y="5024676"/>
            <a:ext cx="9292828" cy="171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The diagram above illustrates the end-to-end user journey — from query input through classification, module selection, and response delivery.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2668786" y="5366147"/>
            <a:ext cx="1683425" cy="2103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EDEDE8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Architecture Layers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2653546" y="5651183"/>
            <a:ext cx="30480" cy="492443"/>
          </a:xfrm>
          <a:prstGeom prst="rect">
            <a:avLst/>
          </a:prstGeom>
          <a:solidFill>
            <a:srgbClr val="E1E1DF"/>
          </a:solidFill>
          <a:ln/>
        </p:spPr>
      </p:sp>
      <p:sp>
        <p:nvSpPr>
          <p:cNvPr id="11" name="Text 8"/>
          <p:cNvSpPr/>
          <p:nvPr/>
        </p:nvSpPr>
        <p:spPr>
          <a:xfrm>
            <a:off x="2833926" y="5666423"/>
            <a:ext cx="1683425" cy="2103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C9C9C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User Layer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2833926" y="5956697"/>
            <a:ext cx="2025968" cy="171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Browser / Mobile Device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944547" y="5651183"/>
            <a:ext cx="30480" cy="492443"/>
          </a:xfrm>
          <a:prstGeom prst="rect">
            <a:avLst/>
          </a:prstGeom>
          <a:solidFill>
            <a:srgbClr val="E1E1DF"/>
          </a:solidFill>
          <a:ln/>
        </p:spPr>
      </p:sp>
      <p:sp>
        <p:nvSpPr>
          <p:cNvPr id="14" name="Text 11"/>
          <p:cNvSpPr/>
          <p:nvPr/>
        </p:nvSpPr>
        <p:spPr>
          <a:xfrm>
            <a:off x="5124926" y="5666423"/>
            <a:ext cx="1683425" cy="2103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C9C9C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Frontend Layer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124926" y="5956697"/>
            <a:ext cx="2025968" cy="171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HTML · CSS · JS · Bootstrap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2653546" y="6273046"/>
            <a:ext cx="30480" cy="702826"/>
          </a:xfrm>
          <a:prstGeom prst="rect">
            <a:avLst/>
          </a:prstGeom>
          <a:solidFill>
            <a:srgbClr val="E1E1DF"/>
          </a:solidFill>
          <a:ln/>
        </p:spPr>
      </p:sp>
      <p:sp>
        <p:nvSpPr>
          <p:cNvPr id="17" name="Text 14"/>
          <p:cNvSpPr/>
          <p:nvPr/>
        </p:nvSpPr>
        <p:spPr>
          <a:xfrm>
            <a:off x="2833926" y="6288286"/>
            <a:ext cx="2025968" cy="4207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C9C9C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Backend Layer (Planned)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2833926" y="6788944"/>
            <a:ext cx="2025968" cy="171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Node.js · Express · REST APIs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4944547" y="6273046"/>
            <a:ext cx="30480" cy="702826"/>
          </a:xfrm>
          <a:prstGeom prst="rect">
            <a:avLst/>
          </a:prstGeom>
          <a:solidFill>
            <a:srgbClr val="E1E1DF"/>
          </a:solidFill>
          <a:ln/>
        </p:spPr>
      </p:sp>
      <p:sp>
        <p:nvSpPr>
          <p:cNvPr id="20" name="Text 17"/>
          <p:cNvSpPr/>
          <p:nvPr/>
        </p:nvSpPr>
        <p:spPr>
          <a:xfrm>
            <a:off x="5124926" y="6288286"/>
            <a:ext cx="2025968" cy="4207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C9C9C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Data &amp; AI Layer (Planned)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5124926" y="6788944"/>
            <a:ext cx="2025968" cy="171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MongoDB · OpenAI/Gemini API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7487126" y="5366147"/>
            <a:ext cx="2048113" cy="2103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EDEDE8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DFD Level 0 — Overview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7487126" y="5656421"/>
            <a:ext cx="4482108" cy="171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b="1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External Entity:</a:t>
            </a:r>
            <a:r>
              <a:rPr lang="en-US" sz="10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User submits queries via web interface.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7487126" y="5900023"/>
            <a:ext cx="4482108" cy="343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b="1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Processes:</a:t>
            </a:r>
            <a:r>
              <a:rPr lang="en-US" sz="10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Chatbot Engine, Law Module, Course Module process requests.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7487126" y="6315313"/>
            <a:ext cx="4482108" cy="343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b="1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Data Store:</a:t>
            </a:r>
            <a:r>
              <a:rPr lang="en-US" sz="10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MongoDB stores legal content, user sessions, and course data.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7487126" y="6730603"/>
            <a:ext cx="4482108" cy="343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b="1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Output:</a:t>
            </a:r>
            <a:r>
              <a:rPr lang="en-US" sz="10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Contextual legal response or course recommendation returned to user.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7487126" y="7163872"/>
            <a:ext cx="4482108" cy="596027"/>
          </a:xfrm>
          <a:prstGeom prst="roundRect">
            <a:avLst>
              <a:gd name="adj" fmla="val 3389"/>
            </a:avLst>
          </a:prstGeom>
          <a:solidFill>
            <a:srgbClr val="022349"/>
          </a:solidFill>
          <a:ln/>
        </p:spPr>
      </p:sp>
      <p:pic>
        <p:nvPicPr>
          <p:cNvPr id="2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1786" y="7351395"/>
            <a:ext cx="168235" cy="134660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7924681" y="7277338"/>
            <a:ext cx="3909893" cy="343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Currently frontend-based — backend &amp; AI layers are planned for the next development phase.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2228" y="689848"/>
            <a:ext cx="7649647" cy="6091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50"/>
              </a:lnSpc>
              <a:buNone/>
            </a:pPr>
            <a:r>
              <a:rPr lang="en-US" sz="3800" dirty="0">
                <a:solidFill>
                  <a:srgbClr val="EDEDE8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Module Breakdown &amp; Use Case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82228" y="1717596"/>
            <a:ext cx="2436614" cy="304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dirty="0">
                <a:solidFill>
                  <a:srgbClr val="EDEDE8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Core Modules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682228" y="2210514"/>
            <a:ext cx="3113842" cy="2334458"/>
          </a:xfrm>
          <a:prstGeom prst="roundRect">
            <a:avLst>
              <a:gd name="adj" fmla="val 1253"/>
            </a:avLst>
          </a:prstGeom>
          <a:solidFill>
            <a:srgbClr val="1D1D1B"/>
          </a:solidFill>
          <a:ln w="22860">
            <a:solidFill>
              <a:srgbClr val="55555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05088" y="2233374"/>
            <a:ext cx="3068122" cy="584716"/>
          </a:xfrm>
          <a:prstGeom prst="roundRect">
            <a:avLst>
              <a:gd name="adj" fmla="val 309"/>
            </a:avLst>
          </a:prstGeom>
          <a:solidFill>
            <a:srgbClr val="3C3C3A"/>
          </a:solidFill>
          <a:ln/>
        </p:spPr>
      </p:sp>
      <p:sp>
        <p:nvSpPr>
          <p:cNvPr id="6" name="Text 4"/>
          <p:cNvSpPr/>
          <p:nvPr/>
        </p:nvSpPr>
        <p:spPr>
          <a:xfrm>
            <a:off x="2093000" y="2343031"/>
            <a:ext cx="292298" cy="36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300" dirty="0">
                <a:solidFill>
                  <a:srgbClr val="C9C9C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1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899993" y="2985492"/>
            <a:ext cx="2436614" cy="304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dirty="0">
                <a:solidFill>
                  <a:srgbClr val="C9C9C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Chatbot Module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99993" y="3457456"/>
            <a:ext cx="2678311" cy="869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Rule-based engine with keyword matching and category routing.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963472" y="2210514"/>
            <a:ext cx="3113961" cy="2334458"/>
          </a:xfrm>
          <a:prstGeom prst="roundRect">
            <a:avLst>
              <a:gd name="adj" fmla="val 1253"/>
            </a:avLst>
          </a:prstGeom>
          <a:solidFill>
            <a:srgbClr val="1D1D1B"/>
          </a:solidFill>
          <a:ln w="22860">
            <a:solidFill>
              <a:srgbClr val="55555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986332" y="2233374"/>
            <a:ext cx="3068241" cy="584716"/>
          </a:xfrm>
          <a:prstGeom prst="roundRect">
            <a:avLst>
              <a:gd name="adj" fmla="val 309"/>
            </a:avLst>
          </a:prstGeom>
          <a:solidFill>
            <a:srgbClr val="3C3C3A"/>
          </a:solidFill>
          <a:ln/>
        </p:spPr>
      </p:sp>
      <p:sp>
        <p:nvSpPr>
          <p:cNvPr id="11" name="Text 9"/>
          <p:cNvSpPr/>
          <p:nvPr/>
        </p:nvSpPr>
        <p:spPr>
          <a:xfrm>
            <a:off x="5374243" y="2343031"/>
            <a:ext cx="292298" cy="36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300" dirty="0">
                <a:solidFill>
                  <a:srgbClr val="C9C9C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2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4181237" y="2985492"/>
            <a:ext cx="2637353" cy="304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dirty="0">
                <a:solidFill>
                  <a:srgbClr val="C9C9C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Law Learning Module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4181237" y="3457456"/>
            <a:ext cx="2678430" cy="869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Curated articles on FIR, RTI, traffic laws, and consumer rights.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82228" y="4712375"/>
            <a:ext cx="3113842" cy="2639020"/>
          </a:xfrm>
          <a:prstGeom prst="roundRect">
            <a:avLst>
              <a:gd name="adj" fmla="val 1108"/>
            </a:avLst>
          </a:prstGeom>
          <a:solidFill>
            <a:srgbClr val="1D1D1B"/>
          </a:solidFill>
          <a:ln w="22860">
            <a:solidFill>
              <a:srgbClr val="55555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05088" y="4735235"/>
            <a:ext cx="3068122" cy="584716"/>
          </a:xfrm>
          <a:prstGeom prst="roundRect">
            <a:avLst>
              <a:gd name="adj" fmla="val 309"/>
            </a:avLst>
          </a:prstGeom>
          <a:solidFill>
            <a:srgbClr val="3C3C3A"/>
          </a:solidFill>
          <a:ln/>
        </p:spPr>
      </p:sp>
      <p:sp>
        <p:nvSpPr>
          <p:cNvPr id="16" name="Text 14"/>
          <p:cNvSpPr/>
          <p:nvPr/>
        </p:nvSpPr>
        <p:spPr>
          <a:xfrm>
            <a:off x="2093000" y="4844891"/>
            <a:ext cx="292298" cy="36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300" dirty="0">
                <a:solidFill>
                  <a:srgbClr val="C9C9C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3</a:t>
            </a:r>
            <a:endParaRPr lang="en-US" sz="2300" dirty="0"/>
          </a:p>
        </p:txBody>
      </p:sp>
      <p:sp>
        <p:nvSpPr>
          <p:cNvPr id="17" name="Text 15"/>
          <p:cNvSpPr/>
          <p:nvPr/>
        </p:nvSpPr>
        <p:spPr>
          <a:xfrm>
            <a:off x="899993" y="5487353"/>
            <a:ext cx="2678311" cy="609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dirty="0">
                <a:solidFill>
                  <a:srgbClr val="C9C9C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Legal Courses Module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899993" y="6263878"/>
            <a:ext cx="2678311" cy="869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Structured courses with progress tracking and assessments.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3963472" y="4712375"/>
            <a:ext cx="3113961" cy="2639020"/>
          </a:xfrm>
          <a:prstGeom prst="roundRect">
            <a:avLst>
              <a:gd name="adj" fmla="val 1108"/>
            </a:avLst>
          </a:prstGeom>
          <a:solidFill>
            <a:srgbClr val="1D1D1B"/>
          </a:solidFill>
          <a:ln w="22860">
            <a:solidFill>
              <a:srgbClr val="55555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986332" y="4735235"/>
            <a:ext cx="3068241" cy="584716"/>
          </a:xfrm>
          <a:prstGeom prst="roundRect">
            <a:avLst>
              <a:gd name="adj" fmla="val 309"/>
            </a:avLst>
          </a:prstGeom>
          <a:solidFill>
            <a:srgbClr val="3C3C3A"/>
          </a:solidFill>
          <a:ln/>
        </p:spPr>
      </p:sp>
      <p:sp>
        <p:nvSpPr>
          <p:cNvPr id="21" name="Text 19"/>
          <p:cNvSpPr/>
          <p:nvPr/>
        </p:nvSpPr>
        <p:spPr>
          <a:xfrm>
            <a:off x="5374243" y="4844891"/>
            <a:ext cx="292298" cy="36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300" dirty="0">
                <a:solidFill>
                  <a:srgbClr val="C9C9C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4</a:t>
            </a:r>
            <a:endParaRPr lang="en-US" sz="2300" dirty="0"/>
          </a:p>
        </p:txBody>
      </p:sp>
      <p:sp>
        <p:nvSpPr>
          <p:cNvPr id="22" name="Text 20"/>
          <p:cNvSpPr/>
          <p:nvPr/>
        </p:nvSpPr>
        <p:spPr>
          <a:xfrm>
            <a:off x="4181237" y="5487353"/>
            <a:ext cx="2436614" cy="304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dirty="0">
                <a:solidFill>
                  <a:srgbClr val="C9C9C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UI/UX Module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4181237" y="5959316"/>
            <a:ext cx="2678430" cy="869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Responsive Bootstrap interface with intuitive navigation.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560588" y="1717596"/>
            <a:ext cx="3873103" cy="304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dirty="0">
                <a:solidFill>
                  <a:srgbClr val="EDEDE8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Use Case: Wrong Traffic Challan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7560588" y="2210514"/>
            <a:ext cx="389811" cy="243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C9C9C0"/>
                </a:solidFill>
                <a:latin typeface="Tomorrow Light" pitchFamily="34" charset="0"/>
                <a:ea typeface="Tomorrow Light" pitchFamily="34" charset="-122"/>
                <a:cs typeface="Tomorrow Light" pitchFamily="34" charset="-120"/>
              </a:rPr>
              <a:t>01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7560588" y="2518886"/>
            <a:ext cx="6395204" cy="22860"/>
          </a:xfrm>
          <a:prstGeom prst="rect">
            <a:avLst/>
          </a:prstGeom>
          <a:solidFill>
            <a:srgbClr val="E1E1DF"/>
          </a:solidFill>
          <a:ln/>
        </p:spPr>
      </p:sp>
      <p:sp>
        <p:nvSpPr>
          <p:cNvPr id="27" name="Text 25"/>
          <p:cNvSpPr/>
          <p:nvPr/>
        </p:nvSpPr>
        <p:spPr>
          <a:xfrm>
            <a:off x="7560588" y="2661999"/>
            <a:ext cx="3684984" cy="304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dirty="0">
                <a:solidFill>
                  <a:srgbClr val="C9C9C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User reports wrongful challan</a:t>
            </a:r>
            <a:endParaRPr lang="en-US" sz="1900" dirty="0"/>
          </a:p>
        </p:txBody>
      </p:sp>
      <p:sp>
        <p:nvSpPr>
          <p:cNvPr id="28" name="Text 26"/>
          <p:cNvSpPr/>
          <p:nvPr/>
        </p:nvSpPr>
        <p:spPr>
          <a:xfrm>
            <a:off x="7560588" y="3280053"/>
            <a:ext cx="389811" cy="243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C9C9C0"/>
                </a:solidFill>
                <a:latin typeface="Tomorrow Light" pitchFamily="34" charset="0"/>
                <a:ea typeface="Tomorrow Light" pitchFamily="34" charset="-122"/>
                <a:cs typeface="Tomorrow Light" pitchFamily="34" charset="-120"/>
              </a:rPr>
              <a:t>02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7560588" y="3588425"/>
            <a:ext cx="6395204" cy="22860"/>
          </a:xfrm>
          <a:prstGeom prst="rect">
            <a:avLst/>
          </a:prstGeom>
          <a:solidFill>
            <a:srgbClr val="E1E1DF"/>
          </a:solidFill>
          <a:ln/>
        </p:spPr>
      </p:sp>
      <p:sp>
        <p:nvSpPr>
          <p:cNvPr id="30" name="Text 28"/>
          <p:cNvSpPr/>
          <p:nvPr/>
        </p:nvSpPr>
        <p:spPr>
          <a:xfrm>
            <a:off x="7560588" y="3731538"/>
            <a:ext cx="4022169" cy="304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dirty="0">
                <a:solidFill>
                  <a:srgbClr val="C9C9C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System identifies issue category</a:t>
            </a:r>
            <a:endParaRPr lang="en-US" sz="1900" dirty="0"/>
          </a:p>
        </p:txBody>
      </p:sp>
      <p:sp>
        <p:nvSpPr>
          <p:cNvPr id="31" name="Text 29"/>
          <p:cNvSpPr/>
          <p:nvPr/>
        </p:nvSpPr>
        <p:spPr>
          <a:xfrm>
            <a:off x="7560588" y="4349591"/>
            <a:ext cx="389811" cy="243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C9C9C0"/>
                </a:solidFill>
                <a:latin typeface="Tomorrow Light" pitchFamily="34" charset="0"/>
                <a:ea typeface="Tomorrow Light" pitchFamily="34" charset="-122"/>
                <a:cs typeface="Tomorrow Light" pitchFamily="34" charset="-120"/>
              </a:rPr>
              <a:t>03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7560588" y="4657963"/>
            <a:ext cx="6395204" cy="22860"/>
          </a:xfrm>
          <a:prstGeom prst="rect">
            <a:avLst/>
          </a:prstGeom>
          <a:solidFill>
            <a:srgbClr val="E1E1DF"/>
          </a:solidFill>
          <a:ln/>
        </p:spPr>
      </p:sp>
      <p:sp>
        <p:nvSpPr>
          <p:cNvPr id="33" name="Text 31"/>
          <p:cNvSpPr/>
          <p:nvPr/>
        </p:nvSpPr>
        <p:spPr>
          <a:xfrm>
            <a:off x="7560588" y="4801076"/>
            <a:ext cx="4126944" cy="304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dirty="0">
                <a:solidFill>
                  <a:srgbClr val="C9C9C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Relevant MV Act section provided</a:t>
            </a:r>
            <a:endParaRPr lang="en-US" sz="1900" dirty="0"/>
          </a:p>
        </p:txBody>
      </p:sp>
      <p:sp>
        <p:nvSpPr>
          <p:cNvPr id="34" name="Text 32"/>
          <p:cNvSpPr/>
          <p:nvPr/>
        </p:nvSpPr>
        <p:spPr>
          <a:xfrm>
            <a:off x="7560588" y="5419130"/>
            <a:ext cx="389811" cy="243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C9C9C0"/>
                </a:solidFill>
                <a:latin typeface="Tomorrow Light" pitchFamily="34" charset="0"/>
                <a:ea typeface="Tomorrow Light" pitchFamily="34" charset="-122"/>
                <a:cs typeface="Tomorrow Light" pitchFamily="34" charset="-120"/>
              </a:rPr>
              <a:t>04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7560588" y="5727502"/>
            <a:ext cx="6395204" cy="22860"/>
          </a:xfrm>
          <a:prstGeom prst="rect">
            <a:avLst/>
          </a:prstGeom>
          <a:solidFill>
            <a:srgbClr val="E1E1DF"/>
          </a:solidFill>
          <a:ln/>
        </p:spPr>
      </p:sp>
      <p:sp>
        <p:nvSpPr>
          <p:cNvPr id="36" name="Text 34"/>
          <p:cNvSpPr/>
          <p:nvPr/>
        </p:nvSpPr>
        <p:spPr>
          <a:xfrm>
            <a:off x="7560588" y="5870615"/>
            <a:ext cx="4493538" cy="304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dirty="0">
                <a:solidFill>
                  <a:srgbClr val="C9C9C0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Dispute process &amp; next steps shown</a:t>
            </a:r>
            <a:endParaRPr lang="en-US" sz="1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4260" y="609957"/>
            <a:ext cx="10556081" cy="664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200"/>
              </a:lnSpc>
              <a:buNone/>
            </a:pPr>
            <a:r>
              <a:rPr lang="en-US" sz="4150" dirty="0">
                <a:solidFill>
                  <a:srgbClr val="EDEDE8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Challenges, Future Scope &amp; Conclusion</a:t>
            </a:r>
            <a:endParaRPr lang="en-US" sz="4150" dirty="0"/>
          </a:p>
        </p:txBody>
      </p:sp>
      <p:sp>
        <p:nvSpPr>
          <p:cNvPr id="3" name="Text 1"/>
          <p:cNvSpPr/>
          <p:nvPr/>
        </p:nvSpPr>
        <p:spPr>
          <a:xfrm>
            <a:off x="744260" y="1772722"/>
            <a:ext cx="2658070" cy="332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EDEDE8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Challenges Faced</a:t>
            </a:r>
            <a:endParaRPr lang="en-US" sz="2050" dirty="0"/>
          </a:p>
        </p:txBody>
      </p:sp>
      <p:sp>
        <p:nvSpPr>
          <p:cNvPr id="4" name="Text 2"/>
          <p:cNvSpPr/>
          <p:nvPr/>
        </p:nvSpPr>
        <p:spPr>
          <a:xfrm>
            <a:off x="744260" y="2304336"/>
            <a:ext cx="6311622" cy="21169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50" b="1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Chatbot Logic</a:t>
            </a:r>
            <a:r>
              <a:rPr lang="en-US" sz="16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— Designing accurate rule-based responses for diverse legal queries</a:t>
            </a:r>
            <a:endParaRPr lang="en-US" sz="1650" dirty="0"/>
          </a:p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50" b="1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UI Responsiveness</a:t>
            </a:r>
            <a:r>
              <a:rPr lang="en-US" sz="16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— Ensuring consistent layout across mobile, tablet, and desktop</a:t>
            </a:r>
            <a:endParaRPr lang="en-US" sz="1650" dirty="0"/>
          </a:p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50" b="1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Dynamic Data</a:t>
            </a:r>
            <a:r>
              <a:rPr lang="en-US" sz="16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— Managing legal content updates without backend persistence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7582138" y="1772722"/>
            <a:ext cx="2658070" cy="332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EDEDE8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Future Roadmap</a:t>
            </a:r>
            <a:endParaRPr lang="en-US" sz="2050" dirty="0"/>
          </a:p>
        </p:txBody>
      </p:sp>
      <p:sp>
        <p:nvSpPr>
          <p:cNvPr id="6" name="Text 4"/>
          <p:cNvSpPr/>
          <p:nvPr/>
        </p:nvSpPr>
        <p:spPr>
          <a:xfrm>
            <a:off x="7582138" y="2304336"/>
            <a:ext cx="6311622" cy="19269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50" b="1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Backend</a:t>
            </a:r>
            <a:r>
              <a:rPr lang="en-US" sz="16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— Node.js + MongoDB + REST APIs</a:t>
            </a:r>
            <a:endParaRPr lang="en-US" sz="1650" dirty="0"/>
          </a:p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50" b="1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AI Chatbot</a:t>
            </a:r>
            <a:r>
              <a:rPr lang="en-US" sz="16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— NLP via OpenAI / Gemini API</a:t>
            </a:r>
            <a:endParaRPr lang="en-US" sz="1650" dirty="0"/>
          </a:p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50" b="1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Voice Assistant</a:t>
            </a:r>
            <a:r>
              <a:rPr lang="en-US" sz="16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— Speech-to-text for accessibility</a:t>
            </a:r>
            <a:endParaRPr lang="en-US" sz="1650" dirty="0"/>
          </a:p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50" b="1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Multilingual</a:t>
            </a:r>
            <a:r>
              <a:rPr lang="en-US" sz="16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— Hindi and regional language support</a:t>
            </a:r>
            <a:endParaRPr lang="en-US" sz="1650" dirty="0"/>
          </a:p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50" b="1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Auth &amp; Dashboard</a:t>
            </a:r>
            <a:r>
              <a:rPr lang="en-US" sz="16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— User accounts with saved history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744260" y="4768334"/>
            <a:ext cx="13141881" cy="15835"/>
          </a:xfrm>
          <a:prstGeom prst="rect">
            <a:avLst/>
          </a:prstGeom>
          <a:solidFill>
            <a:srgbClr val="C9C9C0">
              <a:alpha val="5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744260" y="5260777"/>
            <a:ext cx="2658070" cy="332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EDEDE8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Conclusion</a:t>
            </a:r>
            <a:endParaRPr lang="en-US" sz="2050" dirty="0"/>
          </a:p>
        </p:txBody>
      </p:sp>
      <p:sp>
        <p:nvSpPr>
          <p:cNvPr id="9" name="Text 7"/>
          <p:cNvSpPr/>
          <p:nvPr/>
        </p:nvSpPr>
        <p:spPr>
          <a:xfrm>
            <a:off x="744260" y="5792391"/>
            <a:ext cx="6311622" cy="1647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JusticeAI demonstrates how </a:t>
            </a:r>
            <a:r>
              <a:rPr lang="en-US" sz="1650" b="1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accessible technology can democratize legal knowledge</a:t>
            </a:r>
            <a:r>
              <a:rPr lang="en-US" sz="16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. It delivers a functional, responsive frontend with a clear path toward full AI-powered legal assistance — a meaningful step toward digital justice in India.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7429143" y="5061466"/>
            <a:ext cx="6617613" cy="2558058"/>
          </a:xfrm>
          <a:prstGeom prst="roundRect">
            <a:avLst>
              <a:gd name="adj" fmla="val 1247"/>
            </a:avLst>
          </a:prstGeom>
          <a:solidFill>
            <a:srgbClr val="373B48"/>
          </a:solidFill>
          <a:ln/>
        </p:spPr>
      </p:sp>
      <p:sp>
        <p:nvSpPr>
          <p:cNvPr id="11" name="Text 9"/>
          <p:cNvSpPr/>
          <p:nvPr/>
        </p:nvSpPr>
        <p:spPr>
          <a:xfrm>
            <a:off x="7641788" y="5260777"/>
            <a:ext cx="2658070" cy="332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EDEDE8"/>
                </a:solidFill>
                <a:latin typeface="Tomorrow Semi Bold" pitchFamily="34" charset="0"/>
                <a:ea typeface="Tomorrow Semi Bold" pitchFamily="34" charset="-122"/>
                <a:cs typeface="Tomorrow Semi Bold" pitchFamily="34" charset="-120"/>
              </a:rPr>
              <a:t>Thank You</a:t>
            </a:r>
            <a:endParaRPr lang="en-US" sz="2050" dirty="0"/>
          </a:p>
        </p:txBody>
      </p:sp>
      <p:sp>
        <p:nvSpPr>
          <p:cNvPr id="12" name="Text 10"/>
          <p:cNvSpPr/>
          <p:nvPr/>
        </p:nvSpPr>
        <p:spPr>
          <a:xfrm>
            <a:off x="7641788" y="5792391"/>
            <a:ext cx="6192322" cy="659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C9C9C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We appreciate your time and evaluation. We welcome your questions, feedback, and suggestions.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7641788" y="6675715"/>
            <a:ext cx="1706999" cy="406241"/>
          </a:xfrm>
          <a:prstGeom prst="roundRect">
            <a:avLst>
              <a:gd name="adj" fmla="val 6282"/>
            </a:avLst>
          </a:prstGeom>
          <a:noFill/>
          <a:ln w="7620">
            <a:solidFill>
              <a:srgbClr val="E1E1D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6924" y="6747034"/>
            <a:ext cx="1436727" cy="2636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300" dirty="0">
                <a:solidFill>
                  <a:srgbClr val="E1E1DF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ANY QUESTIONS?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931</Words>
  <Application>Microsoft Office PowerPoint</Application>
  <PresentationFormat>Custom</PresentationFormat>
  <Paragraphs>145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Tomorrow Light</vt:lpstr>
      <vt:lpstr>Tomorrow Semi Bold</vt:lpstr>
      <vt:lpstr>Arial</vt:lpstr>
      <vt:lpstr>Tomorrow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Farhaan Husain</cp:lastModifiedBy>
  <cp:revision>2</cp:revision>
  <dcterms:created xsi:type="dcterms:W3CDTF">2026-04-16T17:47:01Z</dcterms:created>
  <dcterms:modified xsi:type="dcterms:W3CDTF">2026-04-16T21:29:29Z</dcterms:modified>
</cp:coreProperties>
</file>